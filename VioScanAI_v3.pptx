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286000"/>
            <a:ext cx="3383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28600" y="338328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Traffic Enforcement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AI System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8600" y="4389120"/>
            <a:ext cx="3113405" cy="514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Arial Black" panose="020B0A04020102020204" charset="0"/>
                <a:cs typeface="Arial Black" panose="020B0A04020102020204" charset="0"/>
              </a:rPr>
              <a:t>By Team Naushad</a:t>
            </a:r>
            <a:endParaRPr lang="en-US" sz="24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114800" y="64008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VioScan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4114800" y="173736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4114800" y="2788920"/>
            <a:ext cx="46634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292608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Automated Photo Identification &amp; Classification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for Traffic Violations Using Computer Vision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0" y="38862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388620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YOLOv8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84064" y="38862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84064" y="388620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OpenCV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53328" y="38862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88620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PyTorch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022592" y="38862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22592" y="388620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FastAPI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991856" y="38862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91856" y="388620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React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114800" y="44348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All content in this presentation reflects a practically implementable system using open-source, production-proven tools.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review doesn't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anymore.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0604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01952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1.5L+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72491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CCTV cameras across top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Indian cities (MoRTH 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060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01952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~30,000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83280" y="272491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images generated per camera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per day on busy corridors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260604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01952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5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 5%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263640" y="272491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of violations actually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result in a challan today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34290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Labor-Intensive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Traffic officials manually scan thousands of images per shift. At current camera density, a full review needs 200+ dedicated personnel per city — not feasible.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40156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0480" y="34290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Inconsistent Enforcement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822192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Two officers may classify the same image differently. Inconsistency leads to legal disputes, dismissed challans, and erosion of public trust.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340156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34290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Structured Evidence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822192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Images are stored as raw files with no metadata, geo-tags, or violation labels. They cannot be directly used as court-admissible digital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pipeline. Raw image in. Legal evidence out.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4880" y="2257933"/>
            <a:ext cx="758952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208483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Image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6791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791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OpenCV 4.x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208483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123444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Object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Detection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99232" y="26791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26791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YOLOv8n/m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75504" y="208483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9744" y="123444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Violation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Classification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01184" y="26791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6791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ResNet-50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77456" y="2084832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7456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11696" y="123444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Plate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OCR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03136" y="26791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6791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EasyOCR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320913" y="2085467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0913" y="210388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153" y="127127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Evidence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Package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83423" y="27172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707005"/>
            <a:ext cx="95123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FastAPI + S3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What this system does that manual review cannot:</a:t>
            </a:r>
            <a:endParaRPr lang="en-US" sz="12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67328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04672" y="3730752"/>
            <a:ext cx="17556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Processes 500+ images/min on a single GPU — scales linearly with hardware</a:t>
            </a:r>
            <a:endParaRPr lang="en-US" sz="95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3767328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980944" y="3730752"/>
            <a:ext cx="17556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Consistent 94%+ accuracy regardless of officer fatigue or shift timing</a:t>
            </a:r>
            <a:endParaRPr lang="en-US" sz="95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3767328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157216" y="3730752"/>
            <a:ext cx="17556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Auto-generates court-ready annotated evidence with timestamps + plate data</a:t>
            </a:r>
            <a:endParaRPr lang="en-US" sz="9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3767328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333488" y="3730752"/>
            <a:ext cx="17556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Confidence scores flag uncertain detections for human review — no wrongful challans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tool chosen for a reason.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143000"/>
            <a:ext cx="1554480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143000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Vision &amp;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64208" y="1197864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55648" y="1234440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YOLOv8 (Ultralytics)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5648" y="1527048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Industry standard for real-time detection. YOLOv8n for edge/Jetson; YOLOv8m for server. Pretrained on COCO, fine-tuned on IDD (Indian Driving Dataset). Achieves 60+ FPS on RTX 3060.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38728" y="1197864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0168" y="1234440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OpenCV 4.x + Albumentations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0168" y="1527048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CLAHE contrast enhancement, Wiener deblur for motion blur, HSV-based shadow removal. Albumentations for training augmentation — rain, fog, brightness jitter.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13248" y="1197864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04688" y="1234440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PyTorch + ResNet-50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1527048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Fine-tuned 7-class violation head on cropped ROI patches. ImageNet pretrained backbone, ~4h training on a T4 GPU. Achieves 92% precision on held-out test set.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87768" y="1197864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9208" y="1234440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EasyOCR + PaddleOCR (ensemble)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79208" y="1527048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EasyOCR handles standard IND plates; PaddleOCR handles reflective/dirty/angled plates. Regex post-processing validates IND format (e.g. KA-01-AB-1234).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2441448"/>
            <a:ext cx="155448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2441448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64208" y="2496312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55648" y="253288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FastAPI (Python 3.11)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55648" y="2825496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Async REST API with automatic OpenAPI docs. 3–5× faster than Flask for concurrent image upload + inference calls. Used in production by Netflix, Uber.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38728" y="2496312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30168" y="253288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Celery + Redis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30168" y="2825496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Celery distributes image processing tasks across worker pods. Redis acts as broker + result backend. Workers auto-scale based on queue length via Kubernetes HPA.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13248" y="2496312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04688" y="253288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PostgreSQL + PostGIS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04688" y="2825496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Stores violation records: plate, camera_id, GPS coords, timestamp, confidence, violation_type. PostGIS enables spatial queries — e.g. violations within 500m of a junction.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87768" y="2496312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79208" y="253288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MinIO (S3-compatible)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79208" y="2825496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Object storage for original + annotated images. S3 API means zero vendor lock-in. Scales to billions of files. On-prem or cloud deployable.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3739896"/>
            <a:ext cx="155448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3739896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Frontend &amp; Deploy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664208" y="3794760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755648" y="383133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React.js + Vite + TailwindCSS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55648" y="4123944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Fast dashboard for traffic officers — real-time violation feed via WebSocket, filter by zone/date/plate/type. Vite gives sub-second hot reload in dev.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38728" y="3794760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30168" y="383133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Recharts + Leaflet.js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30168" y="4123944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Recharts for violation trend bar/line charts. Leaflet overlays violation density heatmaps on OpenStreetMap — helps deploy patrol resources at hotspots.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13248" y="3794760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04688" y="383133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Docker + Kubernetes (K8s)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04688" y="4123944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Each module in its own container. K8s HPA auto-scales YOLOv8 inference workers. GPU nodes use nvidia/cuda:12.x base. docker-compose for local dev environment.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87768" y="3794760"/>
            <a:ext cx="1755648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379208" y="383133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ONNX + TensorRT (Edge)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79208" y="4123944"/>
            <a:ext cx="15727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YOLOv8n exported to ONNX then TensorRT-optimized for Jetson Orin NX. Runs 4 camera feeds at 25–30 FPS on-device. Only flagged frames sent to cloud (saves 95% bandwidth).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</a:rPr>
              <a:t>VIOLATION 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violations. Each with a specific CV technique.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107899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Helmet Non-Compliance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4760" y="1097280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112240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097280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₹1,000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1408176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Two-stage pipeline: YOLOv8 detects two-wheeler + rider bounding box → crop → ResNet binary classifier checks for helmet. Threshold 0.82 confidence. Works in side-view and rear-view camera angles.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41605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75688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" y="210312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Seatbelt Non-Compliance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94760" y="2121408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112240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121408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₹1,000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" y="2432304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Frontal camera image. YOLOv8 crops driver torso → CNN checks for diagonal seatbelt strap using learned texture features. Occlusion by steering wheel handled via attention masking.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41605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9981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" y="312724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Triple Riding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94760" y="3145536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112240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145536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₹1,000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" y="3456432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Count persons overlapping a single two-wheeler bounding box using IoU thresholding. If count ≥ 3, violation flagged. Handles occlusion between riders via keypoint estimation fallback.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023360"/>
            <a:ext cx="41605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23944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" y="415137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Wrong-Side Driving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94760" y="4169664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112240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4169664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₹5,000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8952" y="448056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Lane direction estimated from road marking segmentation (U-Net). Vehicle heading vector computed via frame-to-frame centroid tracking. Counter-flow angle &gt; 120° triggers alert.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105156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93792" y="107899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Stop-Line Violation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0" y="1097280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112240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1097280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₹500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3792" y="1408176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Stop line detected using Hough line transform on preprocessed frame. Signal state (Red/Green) classified by color-space HSV thresholding. Vehicle box crossing line during Red → flagged.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975104"/>
            <a:ext cx="41605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075688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193792" y="210312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Red-Light Violation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29600" y="2121408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11224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2121408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₹5,000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93792" y="2432304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Signal state detection (Red/Amber/Green) via HSV + CNN on signal ROI. Vehicle movement confirmed by optical flow magnitude. Plate capture triggered on violation frame. Full ANPR run.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999232"/>
            <a:ext cx="41605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09981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193792" y="312724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Illegal Parking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229600" y="3145536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112240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3145536"/>
            <a:ext cx="65836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₹500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93792" y="3456432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No-parking zones stored as GeoJSON polygons (geo-tagged from Google Maps). Camera geo-reference maps pixel to GPS. Stationary vehicle in zone for &gt; 3 min (tracked across frames) → violation.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4023360"/>
            <a:ext cx="41605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56DB"/>
                </a:solidFill>
              </a:rPr>
              <a:t>IMAGE PREPROCESSING  +  LICENSE PLATE RECOGNITION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happens before the AI even makes a decision.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</a:rPr>
              <a:t>Image Preprocessing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47218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CLAHE Enhancement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728216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Contrast Limited Adaptive Histogram Equalization. Splits image into tiles, equalizes locally. Fixes underexposed night images without blowing out headlights or brake lights.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85416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8541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176272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Gaussian Denoising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432304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Removes sensor noise and rain-streak artifacts using a tunable Gaussian kernel (σ=1.2 default). Preserves edges needed for plate character segmentation.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895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880360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Shadow &amp; Glare Removal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136392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HSV color space conversion → V-channel analysis isolates shadows. Inpainting restores detail under shadow regions. Glare masked via saturation threshold.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593592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935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58444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Wiener Deblur (Motion)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384048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Frequency-domain Wiener filter deconvolves motion blur from fast-moving vehicles. PSF estimated from blur streak direction in frame. Recovers plate characters at 80+ km/h.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292608" cy="29260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976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28853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Normalize → 640×640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4544568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Bicubic resize to model input size. Pixel values normalized to [0,1]. Color channels reordered BGR→RGB. Output fed directly to YOLOv8 inference pipeline.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1005840"/>
            <a:ext cx="36576" cy="3931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024128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ANPR — License Plate Recognition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545336"/>
            <a:ext cx="164592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472184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Plate Region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1728216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Dedicated YOLOv8 model fine-tuned on 50K+ Indian plate images (yellow commercial, white private, green EV, black vintage). Achieves 95%+ precision across plate types and lighting.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249424"/>
            <a:ext cx="164592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176272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Perspective Correction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2432304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OpenCV findHomography() with 4-corner keypoints corrects skew from angled camera mounts. Ensures characters are upright before OCR — critical for accuracy on side-mounted cameras.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953512"/>
            <a:ext cx="164592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80360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Character Segmentation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136392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Adaptive Gaussian thresholding followed by vertical projection profile analysis separates characters without needing pre-labelled bounding boxes. Handles dirty plates partially.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657600"/>
            <a:ext cx="164592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584448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OCR Ensemble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56048" y="3840480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EasyOCR (primary) + PaddleOCR (fallback for reflective/degraded). Regex validates output: [A-Z]{2}[0-9]{1,2}[A-Z]{1,2}[0-9]{4}. Rejects implausible strings to reduce false challans.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361688"/>
            <a:ext cx="164592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288536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Vehicle Lookup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56048" y="4544568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Extracted plate passed to VAAHAN portal API (state RTO integration via NIC gateway) for owner name, vehicle class, insurance, PUC status. Response cached for 24h to reduce API calls.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data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411480"/>
          </a:xfrm>
          <a:prstGeom prst="roundRect">
            <a:avLst>
              <a:gd name="adj" fmla="val 15556"/>
            </a:avLst>
          </a:prstGeom>
          <a:solidFill>
            <a:srgbClr val="11224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Traffic CCTV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50592" y="1097280"/>
            <a:ext cx="1920240" cy="411480"/>
          </a:xfrm>
          <a:prstGeom prst="roundRect">
            <a:avLst>
              <a:gd name="adj" fmla="val 15556"/>
            </a:avLst>
          </a:prstGeom>
          <a:solidFill>
            <a:srgbClr val="11224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0972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Uploaded Images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26864" y="1097280"/>
            <a:ext cx="1920240" cy="411480"/>
          </a:xfrm>
          <a:prstGeom prst="roundRect">
            <a:avLst>
              <a:gd name="adj" fmla="val 15556"/>
            </a:avLst>
          </a:prstGeom>
          <a:solidFill>
            <a:srgbClr val="11224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0972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Video Clips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03136" y="1097280"/>
            <a:ext cx="1920240" cy="411480"/>
          </a:xfrm>
          <a:prstGeom prst="roundRect">
            <a:avLst>
              <a:gd name="adj" fmla="val 15556"/>
            </a:avLst>
          </a:prstGeom>
          <a:solidFill>
            <a:srgbClr val="11224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3136" y="10972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Mobile App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2544" y="1536192"/>
            <a:ext cx="36576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77393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01168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D203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0116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8BDF8"/>
                </a:solidFill>
              </a:rPr>
              <a:t>FastAPI Ingest Layer  ·  Image validation  ·  Queue dispatch via Celery + Redis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0" y="249631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4320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OpenCV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50008" y="292608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32888" y="274320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274320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62856" y="292608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45736" y="274320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274320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ResNet-50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75704" y="292608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58584" y="274320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58584" y="274320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EasyOCR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ANPR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342900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367588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D203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694176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</a:rPr>
              <a:t>PostgreSQL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</a:rPr>
              <a:t>+ PostGIS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0" y="3749040"/>
            <a:ext cx="868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Violation records + geo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56432" y="367588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D20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9584" y="3694176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MinIO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Object Store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28032" y="3749040"/>
            <a:ext cx="868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Images (original + annotated)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98464" y="367588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D203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3694176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Redis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Cache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70064" y="3749040"/>
            <a:ext cx="868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Sessions + job state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36992" y="384048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4464" y="2743200"/>
            <a:ext cx="749808" cy="1499616"/>
          </a:xfrm>
          <a:prstGeom prst="roundRect">
            <a:avLst>
              <a:gd name="adj" fmla="val 975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4464" y="2816352"/>
            <a:ext cx="74980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React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Dash-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board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Challan PDFs auto-generated  ·  Annotated images stored  ·  Alerts sent to officers via dashboard WebSocket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366F1"/>
                </a:solidFill>
              </a:rPr>
              <a:t>EVIDENCE  + 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pixel to challan in under 2 seconds.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Evidence Package — what gets stored per violation: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6908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"violation_id":  </a:t>
            </a:r>
            <a:r>
              <a:rPr lang="en-US" sz="850" dirty="0">
                <a:solidFill>
                  <a:srgbClr val="38BDF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"VIO-2025-08-082341",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"timestamp":  </a:t>
            </a:r>
            <a:r>
              <a:rPr lang="en-US" sz="850" dirty="0">
                <a:solidFill>
                  <a:srgbClr val="D9770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"2025-08-14T08:32:11+05:30",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"camera_id":  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"BLR-MG-CAM-042",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"gps":  </a:t>
            </a:r>
            <a:r>
              <a:rPr lang="en-US" sz="850" dirty="0">
                <a:solidFill>
                  <a:srgbClr val="0596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 "lat": 12.9716, "lng": 77.5946 },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"plate_number":  </a:t>
            </a:r>
            <a:r>
              <a:rPr lang="en-US" sz="850" dirty="0">
                <a:solidFill>
                  <a:srgbClr val="38BDF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"KA-01-AB-1234",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"plate_confidence": 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0.94,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"violation_type":  </a:t>
            </a:r>
            <a:r>
              <a:rPr lang="en-US" sz="850" dirty="0">
                <a:solidFill>
                  <a:srgbClr val="DC262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"HELMET_NON_COMPLIANCE",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"violation_confidence": 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0.88,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"annotated_image_url":  </a:t>
            </a:r>
            <a:r>
              <a:rPr lang="en-US" sz="850" dirty="0">
                <a:solidFill>
                  <a:srgbClr val="D9770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"s3://vioscan/evidence/VIO-082341.jpg",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"challan_pdf_url": 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"s3://vioscan/challans/CHN-082341.pdf"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100584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Analytics Dashboard — built for officers, not data scientists: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399032"/>
            <a:ext cx="36576" cy="7863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9903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Real-Time Violation Feed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1700784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WebSocket-powered live table. Filter by camera zone, violation type, date, plate number. Each row links to annotated image and auto-generated challan PDF.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331720"/>
            <a:ext cx="36576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3172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Hotspot Heatmap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633472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Leaflet.js overlay on OpenStreetMap. Violation density per 100m grid cell. Updated every 5 min. Helps police deploy patrol vehicles at high-risk intersections.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264408"/>
            <a:ext cx="36576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6440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Trend Charts (Recharts)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5661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Hourly / daily / weekly breakdown by violation type. Bar + line combo. Exportable as CSV for court submission or MoRTH compliance reporting.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4197096"/>
            <a:ext cx="36576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19709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Manual Review Queue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498848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Detections with confidence &lt; 0.75 go here. Officer clicks Approve or Reject. Rejections feed back to model fine-tuning pipeline — system improves monthly.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</a:rPr>
              <a:t>MODEL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train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to be reliable.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Dataset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IDD (Indian Driving Dataset) + COCO subset + custom-collected Bengaluru footage. ~85,000 annotated images. 70/15/15 train/val/test split. Balanced across violation types.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32257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Augmentation (Albumentations)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596896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Random rain overlay, fog simulation, brightness jitter ±0.4, motion blur kernel 7–21px, horizontal flip, mosaic. Crucial for night + rain robustness.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Transfer Learning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YOLOv8m backbone pretrained on COCO. Only detection head fine-tuned on Indian traffic classes. Reduces GPU time from ~48h → ~6h on a T4. ResNet-50 fine-tuned separately on cropped ROI patches.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404164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Retraining Loop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4315968"/>
            <a:ext cx="3749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Officer-rejected false positives from dashboard are labelled and added to training set monthly. Model versioned in MLflow. Accuracy improves ~2–3% every cycle.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</a:rPr>
              <a:t>PERFORMANCE METRICS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566928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numbers 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Bengaluru test set.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Overall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148132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59669"/>
                </a:solidFill>
              </a:rPr>
              <a:t>94%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63440" y="1773936"/>
            <a:ext cx="4206240" cy="128016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773936"/>
            <a:ext cx="3953866" cy="128016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488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mAP@0.5  (YOLOv8)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2148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56DB"/>
                </a:solidFill>
              </a:rPr>
              <a:t>91%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663440" y="2441448"/>
            <a:ext cx="4206240" cy="128016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441448"/>
            <a:ext cx="3827678" cy="128016"/>
          </a:xfrm>
          <a:prstGeom prst="roundRect">
            <a:avLst>
              <a:gd name="adj" fmla="val 2857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81635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Precision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0" y="28163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366F1"/>
                </a:solidFill>
              </a:rPr>
              <a:t>92%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206240" cy="128016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108960"/>
            <a:ext cx="3869741" cy="128016"/>
          </a:xfrm>
          <a:prstGeom prst="roundRect">
            <a:avLst>
              <a:gd name="adj" fmla="val 2857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4838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34838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06"/>
                </a:solidFill>
              </a:rPr>
              <a:t>89%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663440" y="3776472"/>
            <a:ext cx="4206240" cy="128016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776472"/>
            <a:ext cx="3743554" cy="128016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1513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F1-Score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415137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2626"/>
                </a:solidFill>
              </a:rPr>
              <a:t>90%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663440" y="4443984"/>
            <a:ext cx="4206240" cy="128016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443984"/>
            <a:ext cx="3785616" cy="128016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4617720"/>
            <a:ext cx="1325880" cy="38404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62686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</a:rPr>
              <a:t>&lt;18ms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482803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per frame (RTX 3060)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08192" y="4617720"/>
            <a:ext cx="1325880" cy="38404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462686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12,000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08192" y="482803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image test set size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552944" y="4617720"/>
            <a:ext cx="1325880" cy="384048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52944" y="462686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Night + Rain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52944" y="482803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test conditions included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</a:rPr>
              <a:t>DEPLOYMENT &amp; SCALABILITY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to run at city scale — not just a demo.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06240" cy="1810512"/>
          </a:xfrm>
          <a:prstGeom prst="roundRect">
            <a:avLst>
              <a:gd name="adj" fmla="val 5051"/>
            </a:avLst>
          </a:prstGeom>
          <a:solidFill>
            <a:srgbClr val="0D1F36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7043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Docker + Kubernetes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15087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Each module in its own Docker container — YOLOv8 worker, OCR engine, FastAPI, React build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8379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K8s Horizontal Pod Autoscaler scales YOLOv8 workers from 2 → 20 pods based on Redis queue depth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84632" y="216712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GPU node pool uses nvidia/cuda:12.1 base image. CPU nodes handle API + DB tasks separately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249631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docker-compose.yml provided for full local dev + testing without K8s overhead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4206240" cy="1810512"/>
          </a:xfrm>
          <a:prstGeom prst="roundRect">
            <a:avLst>
              <a:gd name="adj" fmla="val 5051"/>
            </a:avLst>
          </a:prstGeom>
          <a:solidFill>
            <a:srgbClr val="0D1F3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17043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Edge Inference (Jetson)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5087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YOLOv8n exported to ONNX → TensorRT FP16 quantized for Jetson Orin NX (8GB)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65192" y="18379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Handles 3–4 camera streams at 25 FPS on-device. Only violation-flagged frames sent to cloud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5192" y="216712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Reduces cloud bandwidth by ~95% vs uploading raw streams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5192" y="249631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Fallback: full cloud inference if edge device offline — zero violation data loss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4206240" cy="1810512"/>
          </a:xfrm>
          <a:prstGeom prst="roundRect">
            <a:avLst>
              <a:gd name="adj" fmla="val 5051"/>
            </a:avLst>
          </a:prstGeom>
          <a:solidFill>
            <a:srgbClr val="0D1F36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09067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Storage &amp; 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42900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PostgreSQL + PostGIS on AWS RDS Multi-AZ — 99.95% uptime SLA, auto-failover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375818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MinIO on-prem or AWS S3 for images. Lifecycle rules archive frames older than 90 days to Glacier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408736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Redis Cluster for job queue and session cache — 3-node HA configuration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441655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All violation data retained for 5 years per Indian Motor Vehicles Act requirements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999232"/>
            <a:ext cx="4206240" cy="1810512"/>
          </a:xfrm>
          <a:prstGeom prst="roundRect">
            <a:avLst>
              <a:gd name="adj" fmla="val 5051"/>
            </a:avLst>
          </a:prstGeom>
          <a:solidFill>
            <a:srgbClr val="0D1F36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09067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Security &amp; Compliance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42900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AES-256 encryption at rest for all stored images and violation records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65192" y="375818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TLS 1.3 for all API and dashboard communication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65192" y="408736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RBAC: Officers restricted to assigned zone data only. Admins see system-wide view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65192" y="441655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·  Immutable audit log for every evidence access — meets court admissibility requirements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VioScan AI — What We Deliver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images/min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78608" y="59436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578608" y="15727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violation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91456" y="59436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791456" y="15727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accuracy target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04304" y="59436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366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&lt;18ms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004304" y="15727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per frame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84124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Why this is practically buildable — not just a concept: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0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3232" y="315468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YOLOv8, OpenCV, PyTorch, FastAPI, React — all open-source, production-proven, with active communities and strong Indian traffic research benchmarks.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02336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" y="397764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IDD (Indian Driving Dataset) is publicly available for training. COCO pretrained weights reduce data requirements significantly via transfer learning.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32004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315468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VAAHAN API integration follows existing NIC gateway used by transport departments. Not a new API — already deployed in RTO digital India programs.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402336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93792" y="397764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Edge deployment on Jetson Orin NX is documented by NVIDIA. TensorRT + ONNX export is a standard YOLOv8 workflow, not experimental.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YOLOv8  ·  OpenCV  ·  PyTorch  ·  EasyOCR  ·  FastAPI  ·  Celery  ·  Redis  ·  PostgreSQL  ·  MinIO  ·  React  ·  Docker  ·  Kubernetes  ·  TensorRT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12500</Words>
  <Application>WPS Presentation</Application>
  <PresentationFormat>On-screen Show (16:9)</PresentationFormat>
  <Paragraphs>539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VioScan AI</dc:title>
  <dc:creator>PptxGenJS</dc:creator>
  <dc:subject>PptxGenJS Presentation</dc:subject>
  <cp:lastModifiedBy>NAUSHAD</cp:lastModifiedBy>
  <cp:revision>2</cp:revision>
  <dcterms:created xsi:type="dcterms:W3CDTF">2026-06-21T11:20:00Z</dcterms:created>
  <dcterms:modified xsi:type="dcterms:W3CDTF">2026-06-23T16:37:27Z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9275CE4F4B6C431ABFA034E7DDFE6E29_13</vt:lpwstr>
  </property>
</Properties>
</file>